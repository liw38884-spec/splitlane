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5fd40383174d32" /><Relationship Type="http://schemas.openxmlformats.org/officeDocument/2006/relationships/extended-properties" Target="/docProps/app.xml" Id="R8a7a0f1765094540" /><Relationship Type="http://schemas.openxmlformats.org/officeDocument/2006/relationships/officeDocument" Target="/ppt/presentation.xml" Id="R2253fd77e0f849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bf6a750d53a4516"/>
  </p:sldMasterIdLst>
  <p:notesMasterIdLst>
    <p:notesMasterId xmlns:r="http://schemas.openxmlformats.org/officeDocument/2006/relationships" r:id="R81feb82a659e44a7"/>
  </p:notesMasterIdLst>
  <p:sldIdLst>
    <p:sldId xmlns:r="http://schemas.openxmlformats.org/officeDocument/2006/relationships" id="256" r:id="R3342388646f14ab0"/>
    <p:sldId xmlns:r="http://schemas.openxmlformats.org/officeDocument/2006/relationships" id="257" r:id="R1ed9b7d913044594"/>
    <p:sldId xmlns:r="http://schemas.openxmlformats.org/officeDocument/2006/relationships" id="258" r:id="Re4fd9a4fe21b4558"/>
    <p:sldId xmlns:r="http://schemas.openxmlformats.org/officeDocument/2006/relationships" id="259" r:id="R5d9c2b39a6044d05"/>
    <p:sldId xmlns:r="http://schemas.openxmlformats.org/officeDocument/2006/relationships" id="260" r:id="Refb5a4cea5704c70"/>
    <p:sldId xmlns:r="http://schemas.openxmlformats.org/officeDocument/2006/relationships" id="261" r:id="R63a5d46b1c78449e"/>
    <p:sldId xmlns:r="http://schemas.openxmlformats.org/officeDocument/2006/relationships" id="262" r:id="Rfc7c27b723a942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ffc906fa4ff41b0" /><Relationship Type="http://schemas.openxmlformats.org/officeDocument/2006/relationships/slideMaster" Target="/ppt/slideMasters/slideMaster1.xml" Id="Rebf6a750d53a4516" /><Relationship Type="http://schemas.openxmlformats.org/officeDocument/2006/relationships/notesMaster" Target="/ppt/notesMasters/notesMaster1.xml" Id="R81feb82a659e44a7" /><Relationship Type="http://schemas.openxmlformats.org/officeDocument/2006/relationships/presProps" Target="/ppt/presProps.xml" Id="R9fbb689b58d8433b" /><Relationship Type="http://schemas.openxmlformats.org/officeDocument/2006/relationships/tableStyles" Target="/ppt/tableStyles.xml" Id="R2cabdd3aeca54a15" /><Relationship Type="http://schemas.openxmlformats.org/officeDocument/2006/relationships/slide" Target="/ppt/slides/slide1.xml" Id="R3342388646f14ab0" /><Relationship Type="http://schemas.openxmlformats.org/officeDocument/2006/relationships/slide" Target="/ppt/slides/slide2.xml" Id="R1ed9b7d913044594" /><Relationship Type="http://schemas.openxmlformats.org/officeDocument/2006/relationships/slide" Target="/ppt/slides/slide3.xml" Id="Re4fd9a4fe21b4558" /><Relationship Type="http://schemas.openxmlformats.org/officeDocument/2006/relationships/slide" Target="/ppt/slides/slide4.xml" Id="R5d9c2b39a6044d05" /><Relationship Type="http://schemas.openxmlformats.org/officeDocument/2006/relationships/slide" Target="/ppt/slides/slide5.xml" Id="Refb5a4cea5704c70" /><Relationship Type="http://schemas.openxmlformats.org/officeDocument/2006/relationships/slide" Target="/ppt/slides/slide6.xml" Id="R63a5d46b1c78449e" /><Relationship Type="http://schemas.openxmlformats.org/officeDocument/2006/relationships/slide" Target="/ppt/slides/slide7.xml" Id="Rfc7c27b723a942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6d59635c5b4a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5931c8e0cb440d1" /><Relationship Type="http://schemas.openxmlformats.org/officeDocument/2006/relationships/notesMaster" Target="/ppt/notesMasters/notesMaster1.xml" Id="R7efe4009bfd043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3f063aab7a439c" /><Relationship Type="http://schemas.openxmlformats.org/officeDocument/2006/relationships/notesMaster" Target="/ppt/notesMasters/notesMaster1.xml" Id="Re229ce9d9f2440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731d0ecf904ea2" /><Relationship Type="http://schemas.openxmlformats.org/officeDocument/2006/relationships/notesMaster" Target="/ppt/notesMasters/notesMaster1.xml" Id="R7c7e7b71aedf4a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0973a62f6f4bb5" /><Relationship Type="http://schemas.openxmlformats.org/officeDocument/2006/relationships/notesMaster" Target="/ppt/notesMasters/notesMaster1.xml" Id="R1e3b1a46c4d242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91fe232cbe4023" /><Relationship Type="http://schemas.openxmlformats.org/officeDocument/2006/relationships/notesMaster" Target="/ppt/notesMasters/notesMaster1.xml" Id="R9d34503a9d3d4db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5367c202ea4036" /><Relationship Type="http://schemas.openxmlformats.org/officeDocument/2006/relationships/notesMaster" Target="/ppt/notesMasters/notesMaster1.xml" Id="Raec8fce8100848d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3e31a6660947d2" /><Relationship Type="http://schemas.openxmlformats.org/officeDocument/2006/relationships/notesMaster" Target="/ppt/notesMasters/notesMaster1.xml" Id="Rf758b3f89df54f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(project scope and chain support, accessed 2026-08-12)</a:t>
            </a:r>
          </a:p>
          <a:p xmlns:a="http://schemas.openxmlformats.org/drawingml/2006/main">
            <a:r>
              <a:t>- docs/architecture.md (system design, accessed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(problem and solution statement, accessed 2026-08-12)</a:t>
            </a:r>
          </a:p>
          <a:p xmlns:a="http://schemas.openxmlformats.org/drawingml/2006/main">
            <a:r>
              <a:t>- docs/assets/splitlane-dashboard.png (local product screenshot captured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docs/demo-script.md (demo flow, accessed 2026-08-12)</a:t>
            </a:r>
          </a:p>
          <a:p xmlns:a="http://schemas.openxmlformats.org/drawingml/2006/main">
            <a:r>
              <a:t>- contracts/src/SplitLane.sol (settlement behavior, accessed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docs/architecture.md (component and chain boundaries, accessed 2026-08-12)</a:t>
            </a:r>
          </a:p>
          <a:p xmlns:a="http://schemas.openxmlformats.org/drawingml/2006/main">
            <a:r>
              <a:t>- apps/web/src/lib/chains.ts (chain configuration, accessed 2026-08-12)</a:t>
            </a:r>
          </a:p>
          <a:p xmlns:a="http://schemas.openxmlformats.org/drawingml/2006/main">
            <a:r>
              <a:t>- packages/attestcoin/src/workflow.ts (proof workflow, accessed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docs/threat-model.md (trust boundaries and mitigations, accessed 2026-08-12)</a:t>
            </a:r>
          </a:p>
          <a:p xmlns:a="http://schemas.openxmlformats.org/drawingml/2006/main">
            <a:r>
              <a:t>- contracts/src/SplitLane.sol (privilege and transfer paths, accessed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packages/attestcoin/README.md (supported lane and commands, accessed 2026-08-12)</a:t>
            </a:r>
          </a:p>
          <a:p xmlns:a="http://schemas.openxmlformats.org/drawingml/2006/main">
            <a:r>
              <a:t>- packages/attestcoin/src/constants.ts (source-chain constraint, accessed 2026-08-12)</a:t>
            </a:r>
          </a:p>
          <a:p xmlns:a="http://schemas.openxmlformats.org/drawingml/2006/main">
            <a:r>
              <a:t>- packages/attestcoin/test/workflow.test.ts (rejection and evidence tests, accessed 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package.json (verification commands, accessed 2026-08-12)</a:t>
            </a:r>
          </a:p>
          <a:p xmlns:a="http://schemas.openxmlformats.org/drawingml/2006/main">
            <a:r>
              <a:t>- Local verification record: web 13/13, Attestcoin 15/15, Foundry 29/29 (2026-08-12)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5df4f0aba243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5ea13fd1ad4540" /><Relationship Type="http://schemas.openxmlformats.org/officeDocument/2006/relationships/slideLayout" Target="/ppt/slideLayouts/slideLayout1.xml" Id="R60f37b771c7042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f37b771c7042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6112da84746c3" /><Relationship Type="http://schemas.openxmlformats.org/officeDocument/2006/relationships/image" Target="/ppt/media/image.png" Id="Rd3003b6c6e8a40f3" /><Relationship Type="http://schemas.openxmlformats.org/officeDocument/2006/relationships/notesSlide" Target="/ppt/notesSlides/notesSlide1.xml" Id="Rafc718a288a34b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480e1e65844fa" /><Relationship Type="http://schemas.openxmlformats.org/officeDocument/2006/relationships/image" Target="/ppt/media/image.jpeg" Id="Re2b46d657c164d6c" /><Relationship Type="http://schemas.openxmlformats.org/officeDocument/2006/relationships/notesSlide" Target="/ppt/notesSlides/notesSlide2.xml" Id="Rac7014a458e0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6316de8341fd" /><Relationship Type="http://schemas.openxmlformats.org/officeDocument/2006/relationships/notesSlide" Target="/ppt/notesSlides/notesSlide3.xml" Id="R0ceb8dbe492748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bac20847b74d13" /><Relationship Type="http://schemas.openxmlformats.org/officeDocument/2006/relationships/notesSlide" Target="/ppt/notesSlides/notesSlide4.xml" Id="R6390efdb4dc943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768005a054530" /><Relationship Type="http://schemas.openxmlformats.org/officeDocument/2006/relationships/notesSlide" Target="/ppt/notesSlides/notesSlide5.xml" Id="R2671e50c47c5495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092ca95fb4afc" /><Relationship Type="http://schemas.openxmlformats.org/officeDocument/2006/relationships/notesSlide" Target="/ppt/notesSlides/notesSlide6.xml" Id="R981b956f37ae4f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d223df120240f5" /><Relationship Type="http://schemas.openxmlformats.org/officeDocument/2006/relationships/notesSlide" Target="/ppt/notesSlides/notesSlide7.xml" Id="Rf9ce15fe0639458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03b6c6e8a40f3"/>
          <a:stretch xmlns:a="http://schemas.openxmlformats.org/drawingml/2006/main"/>
        </p:blipFill>
        <p:spPr>
          <a:xfrm xmlns:a="http://schemas.openxmlformats.org/drawingml/2006/main">
            <a:off x="533400" y="419100"/>
            <a:ext cx="495300" cy="495300"/>
          </a:xfrm>
          <a:prstGeom xmlns:a="http://schemas.openxmlformats.org/drawingml/2006/main" prst="roundRect">
            <a:avLst>
              <a:gd name="adj" fmla="val 15385"/>
            </a:avLst>
          </a:prstGeom>
        </p:spPr>
      </p:pic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32AE4682-3CC6-4F0E-897F-0E5A8888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5300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8F2"/>
                </a:solidFill>
                <a:latin typeface="Arial"/>
                <a:ea typeface="Arial"/>
                <a:cs typeface="Arial"/>
              </a:rPr>
              <a:t>NON-CUSTODIAL GROUP SETTLEMENT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6D07BEB5-CBC3-47F8-B5F2-35E549F41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429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0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SplitLane</a:t>
            </a:r>
          </a:p>
        </p:txBody>
      </p:sp>
      <p:sp>
        <p:nvSpPr>
          <p:cNvPr id="4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4A8A06B3-4E2F-4F3E-BCC9-39E60E82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28950"/>
            <a:ext cx="857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Exact USDC shares, paid directly to the recipient.</a:t>
            </a:r>
          </a:p>
        </p:txBody>
      </p:sp>
      <p:sp>
        <p:nvSpPr>
          <p:cNvPr id="5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9CB5FD-D8C2-4DA2-9717-94F174CA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1066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k-foot">
            <a:extLst xmlns:a="http://schemas.openxmlformats.org/drawingml/2006/main">
              <a:ext uri="{FF2B5EF4-FFF2-40B4-BE49-F238E27FC236}">
                <a16:creationId xmlns:a16="http://schemas.microsoft.com/office/drawing/2014/main" id="{826771B7-8211-4D0D-94E5-37FD2F5DA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Base Sepolia + Ethereum Sepolia  |  Attestcoin proof lane on Creditcoin CC3</a:t>
            </a:r>
          </a:p>
        </p:txBody>
      </p:sp>
    </p:spTree>
    <p:extLst>
      <p:ext uri="{BB962C8B-B14F-4D97-AF65-F5344CB8AC3E}">
        <p14:creationId xmlns:p14="http://schemas.microsoft.com/office/powerpoint/2010/main" val="232987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6C89CEA3-CB51-4391-84A9-6E7F7591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5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Group expenses need coordination, not custody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64483EF1-766E-46D7-BBCC-C4C34D8D3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B0B28511-F63C-4EE7-AB7E-F0F27A46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4476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Shared bills create three recurring problems: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1. One person fronts the full amount.</a:t>
            </a:r>
          </a:p>
          <a:p xmlns:a="http://schemas.openxmlformats.org/drawingml/2006/main">
            <a:pPr algn="l">
              <a:defRPr sz="20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2. Participants lose track of exact shares.</a:t>
            </a:r>
          </a:p>
          <a:p xmlns:a="http://schemas.openxmlformats.org/drawingml/2006/main">
            <a:pPr algn="l">
              <a:defRPr sz="20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3. Pooled wallets add avoidable trust and withdrawal risk.</a:t>
            </a:r>
          </a:p>
        </p:txBody>
      </p:sp>
      <p:sp>
        <p:nvSpPr>
          <p:cNvPr id="4" name="screenshot-backdrop">
            <a:extLst xmlns:a="http://schemas.openxmlformats.org/drawingml/2006/main">
              <a:ext uri="{FF2B5EF4-FFF2-40B4-BE49-F238E27FC236}">
                <a16:creationId xmlns:a16="http://schemas.microsoft.com/office/drawing/2014/main" id="{658A83A4-9EC6-4C73-BD79-4E615B38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09700"/>
            <a:ext cx="6286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46d657c164d6c"/>
          <a:stretch xmlns:a="http://schemas.openxmlformats.org/drawingml/2006/main"/>
        </p:blipFill>
        <p:spPr>
          <a:xfrm xmlns:a="http://schemas.openxmlformats.org/drawingml/2006/main">
            <a:off x="5505450" y="2080587"/>
            <a:ext cx="6057900" cy="2830175"/>
          </a:xfrm>
          <a:prstGeom xmlns:a="http://schemas.openxmlformats.org/drawingml/2006/main" prst="roundRect">
            <a:avLst>
              <a:gd name="adj" fmla="val 1932"/>
            </a:avLst>
          </a:prstGeom>
        </p:spPr>
      </p:pic>
      <p:sp>
        <p:nvSpPr>
          <p:cNvPr id="6" name="solution-line">
            <a:extLst xmlns:a="http://schemas.openxmlformats.org/drawingml/2006/main">
              <a:ext uri="{FF2B5EF4-FFF2-40B4-BE49-F238E27FC236}">
                <a16:creationId xmlns:a16="http://schemas.microsoft.com/office/drawing/2014/main" id="{429154A5-2327-41E0-810F-D5C162ED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9750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68F2"/>
                </a:solidFill>
                <a:latin typeface="Arial"/>
                <a:ea typeface="Arial"/>
                <a:cs typeface="Arial"/>
              </a:rPr>
              <a:t>SplitLane records the obligation and lets every participant settle their own share.</a:t>
            </a:r>
          </a:p>
        </p:txBody>
      </p:sp>
    </p:spTree>
    <p:extLst>
      <p:ext uri="{BB962C8B-B14F-4D97-AF65-F5344CB8AC3E}">
        <p14:creationId xmlns:p14="http://schemas.microsoft.com/office/powerpoint/2010/main" val="1072601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D3C68F9A-45A6-4ABC-ADBB-FE30A5E74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49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A tab moves from agreement to direct settlement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CD320CD5-CBDB-4EC8-B804-6197D22F4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workflow-line">
            <a:extLst xmlns:a="http://schemas.openxmlformats.org/drawingml/2006/main">
              <a:ext uri="{FF2B5EF4-FFF2-40B4-BE49-F238E27FC236}">
                <a16:creationId xmlns:a16="http://schemas.microsoft.com/office/drawing/2014/main" id="{E9BC2E71-2D77-46CB-BEC9-9E59E3C1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10096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1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tep-dot-0">
            <a:extLst xmlns:a="http://schemas.openxmlformats.org/drawingml/2006/main">
              <a:ext uri="{FF2B5EF4-FFF2-40B4-BE49-F238E27FC236}">
                <a16:creationId xmlns:a16="http://schemas.microsoft.com/office/drawing/2014/main" id="{7C57B9A1-992F-463A-A35F-D813E8AE4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6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47929FF1-7044-4E71-9191-1F9CE7DA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668F2"/>
                </a:solidFill>
                <a:latin typeface="Arial"/>
                <a:ea typeface="Arial"/>
                <a:cs typeface="Arial"/>
              </a:rPr>
              <a:t>CREATE</a:t>
            </a:r>
          </a:p>
        </p:txBody>
      </p:sp>
      <p:sp>
        <p:nvSpPr>
          <p:cNvPr id="6" name="step-head-0">
            <a:extLst xmlns:a="http://schemas.openxmlformats.org/drawingml/2006/main">
              <a:ext uri="{FF2B5EF4-FFF2-40B4-BE49-F238E27FC236}">
                <a16:creationId xmlns:a16="http://schemas.microsoft.com/office/drawing/2014/main" id="{BDFC12BD-CB7F-454B-817D-37182B34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Recipient defines the tab</a:t>
            </a:r>
          </a:p>
        </p:txBody>
      </p:sp>
      <p:sp>
        <p:nvSpPr>
          <p:cNvPr id="7" name="step-body-0">
            <a:extLst xmlns:a="http://schemas.openxmlformats.org/drawingml/2006/main">
              <a:ext uri="{FF2B5EF4-FFF2-40B4-BE49-F238E27FC236}">
                <a16:creationId xmlns:a16="http://schemas.microsoft.com/office/drawing/2014/main" id="{A8F2540F-F424-4F0C-87F5-CF3B8BF4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Title, metadata hash, participants and exact USDC shares are recorded onchain.</a:t>
            </a:r>
          </a:p>
        </p:txBody>
      </p:sp>
      <p:sp>
        <p:nvSpPr>
          <p:cNvPr id="8" name="step-dot-1">
            <a:extLst xmlns:a="http://schemas.openxmlformats.org/drawingml/2006/main">
              <a:ext uri="{FF2B5EF4-FFF2-40B4-BE49-F238E27FC236}">
                <a16:creationId xmlns:a16="http://schemas.microsoft.com/office/drawing/2014/main" id="{C5AA82E0-0938-45F4-8099-9AF3D1A3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8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BF50437B-673B-42C1-9482-E6B0CE82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SETTLE</a:t>
            </a:r>
          </a:p>
        </p:txBody>
      </p:sp>
      <p:sp>
        <p:nvSpPr>
          <p:cNvPr id="10" name="step-head-1">
            <a:extLst xmlns:a="http://schemas.openxmlformats.org/drawingml/2006/main">
              <a:ext uri="{FF2B5EF4-FFF2-40B4-BE49-F238E27FC236}">
                <a16:creationId xmlns:a16="http://schemas.microsoft.com/office/drawing/2014/main" id="{5A054420-6240-4C3D-9FBA-F307095D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Each participant pays</a:t>
            </a:r>
          </a:p>
        </p:txBody>
      </p:sp>
      <p:sp>
        <p:nvSpPr>
          <p:cNvPr id="11" name="step-body-1">
            <a:extLst xmlns:a="http://schemas.openxmlformats.org/drawingml/2006/main">
              <a:ext uri="{FF2B5EF4-FFF2-40B4-BE49-F238E27FC236}">
                <a16:creationId xmlns:a16="http://schemas.microsoft.com/office/drawing/2014/main" id="{20552016-7C5B-4641-8656-A65CE1E1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2291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USDC moves from that participant directly to the recipient after approval.</a:t>
            </a:r>
          </a:p>
        </p:txBody>
      </p:sp>
      <p:sp>
        <p:nvSpPr>
          <p:cNvPr id="12" name="step-dot-2">
            <a:extLst xmlns:a="http://schemas.openxmlformats.org/drawingml/2006/main">
              <a:ext uri="{FF2B5EF4-FFF2-40B4-BE49-F238E27FC236}">
                <a16:creationId xmlns:a16="http://schemas.microsoft.com/office/drawing/2014/main" id="{B4E1C942-1F5F-4480-81FD-4C6CBA1E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257175" cy="257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986B51D5-43A5-4A9D-9919-EA953D8A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241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14" name="step-head-2">
            <a:extLst xmlns:a="http://schemas.openxmlformats.org/drawingml/2006/main">
              <a:ext uri="{FF2B5EF4-FFF2-40B4-BE49-F238E27FC236}">
                <a16:creationId xmlns:a16="http://schemas.microsoft.com/office/drawing/2014/main" id="{ED8C7B82-4A0A-4A69-89B8-D12E799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909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Receipt evidence is verified</a:t>
            </a:r>
          </a:p>
        </p:txBody>
      </p:sp>
      <p:sp>
        <p:nvSpPr>
          <p:cNvPr id="15" name="step-body-2">
            <a:extLst xmlns:a="http://schemas.openxmlformats.org/drawingml/2006/main">
              <a:ext uri="{FF2B5EF4-FFF2-40B4-BE49-F238E27FC236}">
                <a16:creationId xmlns:a16="http://schemas.microsoft.com/office/drawing/2014/main" id="{1047884E-06CA-45CC-AAB2-4E75639B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Ethereum Sepolia receipts can enter the Attestcoin proof lane on CC3.</a:t>
            </a:r>
          </a:p>
        </p:txBody>
      </p:sp>
    </p:spTree>
    <p:extLst>
      <p:ext uri="{BB962C8B-B14F-4D97-AF65-F5344CB8AC3E}">
        <p14:creationId xmlns:p14="http://schemas.microsoft.com/office/powerpoint/2010/main" val="20585097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81ED15D4-F629-4BE7-B3E4-47AD5026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Two chains share one narrow contract surface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949E04F6-1030-4C9C-99AF-24C6B24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architecture-region-0">
            <a:extLst xmlns:a="http://schemas.openxmlformats.org/drawingml/2006/main">
              <a:ext uri="{FF2B5EF4-FFF2-40B4-BE49-F238E27FC236}">
                <a16:creationId xmlns:a16="http://schemas.microsoft.com/office/drawing/2014/main" id="{4D44E838-BC37-4802-8EB0-4B085442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5048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DF3FF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4" name="architecture-head-0">
            <a:extLst xmlns:a="http://schemas.openxmlformats.org/drawingml/2006/main">
              <a:ext uri="{FF2B5EF4-FFF2-40B4-BE49-F238E27FC236}">
                <a16:creationId xmlns:a16="http://schemas.microsoft.com/office/drawing/2014/main" id="{4CB8C34B-C172-41CF-8F94-0BE7C051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716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68F2"/>
                </a:solidFill>
                <a:latin typeface="Arial"/>
                <a:ea typeface="Arial"/>
                <a:cs typeface="Arial"/>
              </a:rPr>
              <a:t>Web dashboard</a:t>
            </a:r>
          </a:p>
        </p:txBody>
      </p:sp>
      <p:sp>
        <p:nvSpPr>
          <p:cNvPr id="5" name="architecture-body-0">
            <a:extLst xmlns:a="http://schemas.openxmlformats.org/drawingml/2006/main">
              <a:ext uri="{FF2B5EF4-FFF2-40B4-BE49-F238E27FC236}">
                <a16:creationId xmlns:a16="http://schemas.microsoft.com/office/drawing/2014/main" id="{D40CA0D6-FA62-4078-8595-11F8C089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Next.js + wagmi/viem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Base Account wallet connection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Shareable chain-aware tab URLs</a:t>
            </a:r>
          </a:p>
        </p:txBody>
      </p:sp>
      <p:sp>
        <p:nvSpPr>
          <p:cNvPr id="6" name="architecture-region-1">
            <a:extLst xmlns:a="http://schemas.openxmlformats.org/drawingml/2006/main">
              <a:ext uri="{FF2B5EF4-FFF2-40B4-BE49-F238E27FC236}">
                <a16:creationId xmlns:a16="http://schemas.microsoft.com/office/drawing/2014/main" id="{20608D56-27A7-45A2-BB5C-7DA885D5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62100"/>
            <a:ext cx="5048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7" name="architecture-head-1">
            <a:extLst xmlns:a="http://schemas.openxmlformats.org/drawingml/2006/main">
              <a:ext uri="{FF2B5EF4-FFF2-40B4-BE49-F238E27FC236}">
                <a16:creationId xmlns:a16="http://schemas.microsoft.com/office/drawing/2014/main" id="{966EA821-B5DC-49EE-B13C-CE99B54C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7165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SplitLane contract</a:t>
            </a:r>
          </a:p>
        </p:txBody>
      </p:sp>
      <p:sp>
        <p:nvSpPr>
          <p:cNvPr id="8" name="architecture-body-1">
            <a:extLst xmlns:a="http://schemas.openxmlformats.org/drawingml/2006/main">
              <a:ext uri="{FF2B5EF4-FFF2-40B4-BE49-F238E27FC236}">
                <a16:creationId xmlns:a16="http://schemas.microsoft.com/office/drawing/2014/main" id="{2197E314-29EA-42C8-B681-255659AE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Immutable tab records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Exact participant shares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Direct USDC transferFrom settlement</a:t>
            </a:r>
          </a:p>
        </p:txBody>
      </p:sp>
      <p:sp>
        <p:nvSpPr>
          <p:cNvPr id="9" name="architecture-region-2">
            <a:extLst xmlns:a="http://schemas.openxmlformats.org/drawingml/2006/main">
              <a:ext uri="{FF2B5EF4-FFF2-40B4-BE49-F238E27FC236}">
                <a16:creationId xmlns:a16="http://schemas.microsoft.com/office/drawing/2014/main" id="{67D7BB23-092E-4931-8C9A-93F30CC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52850"/>
            <a:ext cx="5048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0" name="architecture-head-2">
            <a:extLst xmlns:a="http://schemas.openxmlformats.org/drawingml/2006/main">
              <a:ext uri="{FF2B5EF4-FFF2-40B4-BE49-F238E27FC236}">
                <a16:creationId xmlns:a16="http://schemas.microsoft.com/office/drawing/2014/main" id="{06293B1C-6E44-4E36-924D-17ED2F9F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Base Sepolia lane</a:t>
            </a:r>
          </a:p>
        </p:txBody>
      </p:sp>
      <p:sp>
        <p:nvSpPr>
          <p:cNvPr id="11" name="architecture-body-2">
            <a:extLst xmlns:a="http://schemas.openxmlformats.org/drawingml/2006/main">
              <a:ext uri="{FF2B5EF4-FFF2-40B4-BE49-F238E27FC236}">
                <a16:creationId xmlns:a16="http://schemas.microsoft.com/office/drawing/2014/main" id="{FB1C2552-5CB4-4536-BD92-9E1F7F42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Official Circle USDC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Builder Code attribution support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Base explorer transaction links</a:t>
            </a:r>
          </a:p>
        </p:txBody>
      </p:sp>
      <p:sp>
        <p:nvSpPr>
          <p:cNvPr id="12" name="architecture-region-3">
            <a:extLst xmlns:a="http://schemas.openxmlformats.org/drawingml/2006/main">
              <a:ext uri="{FF2B5EF4-FFF2-40B4-BE49-F238E27FC236}">
                <a16:creationId xmlns:a16="http://schemas.microsoft.com/office/drawing/2014/main" id="{A11F4990-427A-41FB-BBFF-910245FA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50482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6E6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13" name="architecture-head-3">
            <a:extLst xmlns:a="http://schemas.openxmlformats.org/drawingml/2006/main">
              <a:ext uri="{FF2B5EF4-FFF2-40B4-BE49-F238E27FC236}">
                <a16:creationId xmlns:a16="http://schemas.microsoft.com/office/drawing/2014/main" id="{FF275CC9-10C0-4750-B313-654AC394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62400"/>
            <a:ext cx="4591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Ethereum + Attestcoin lane</a:t>
            </a:r>
          </a:p>
        </p:txBody>
      </p:sp>
      <p:sp>
        <p:nvSpPr>
          <p:cNvPr id="14" name="architecture-body-3">
            <a:extLst xmlns:a="http://schemas.openxmlformats.org/drawingml/2006/main">
              <a:ext uri="{FF2B5EF4-FFF2-40B4-BE49-F238E27FC236}">
                <a16:creationId xmlns:a16="http://schemas.microsoft.com/office/drawing/2014/main" id="{338B20F3-EF42-4DA9-8284-5008F79C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76750"/>
            <a:ext cx="4591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Ethereum Sepolia receipt inspection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Proof construction and verification</a:t>
            </a:r>
          </a:p>
          <a:p xmlns:a="http://schemas.openxmlformats.org/drawingml/2006/main">
            <a:pPr algn="l">
              <a:defRPr sz="15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Creditcoin CC3 BlockProver</a:t>
            </a:r>
          </a:p>
        </p:txBody>
      </p:sp>
    </p:spTree>
    <p:extLst>
      <p:ext uri="{BB962C8B-B14F-4D97-AF65-F5344CB8AC3E}">
        <p14:creationId xmlns:p14="http://schemas.microsoft.com/office/powerpoint/2010/main" val="1239271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21DEE2FF-70A6-48D0-81C6-BD51B350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06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The security model removes pooled-fund failure modes</a:t>
            </a:r>
          </a:p>
        </p:txBody>
      </p:sp>
      <p:sp>
        <p:nvSpPr>
          <p:cNvPr id="2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A66746DE-68AF-43D2-99A9-E1B01171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security-thesis">
            <a:extLst xmlns:a="http://schemas.openxmlformats.org/drawingml/2006/main">
              <a:ext uri="{FF2B5EF4-FFF2-40B4-BE49-F238E27FC236}">
                <a16:creationId xmlns:a16="http://schemas.microsoft.com/office/drawing/2014/main" id="{67DD59B8-8064-4A25-9B55-8E11B8E7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The contract records obligations. It does not become a bank account.</a:t>
            </a:r>
          </a:p>
        </p:txBody>
      </p:sp>
      <p:sp>
        <p:nvSpPr>
          <p:cNvPr id="4" name="security-copy">
            <a:extLst xmlns:a="http://schemas.openxmlformats.org/drawingml/2006/main">
              <a:ext uri="{FF2B5EF4-FFF2-40B4-BE49-F238E27FC236}">
                <a16:creationId xmlns:a16="http://schemas.microsoft.com/office/drawing/2014/main" id="{28794C02-0A10-4511-8604-E72FEB75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53340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Payment remains participant-initiated. The contract has no owner, upgrade, admin withdrawal, recovery, or native-currency path.</a:t>
            </a:r>
          </a:p>
        </p:txBody>
      </p:sp>
      <p:sp>
        <p:nvSpPr>
          <p:cNvPr id="5" name="check-0">
            <a:extLst xmlns:a="http://schemas.openxmlformats.org/drawingml/2006/main">
              <a:ext uri="{FF2B5EF4-FFF2-40B4-BE49-F238E27FC236}">
                <a16:creationId xmlns:a16="http://schemas.microsoft.com/office/drawing/2014/main" id="{CA7BBF6E-6D7E-46B3-B9DC-7DB97A1D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764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835E"/>
            </a:solidFill>
            <a:prstDash val="solid"/>
          </a:ln>
        </p:spPr>
      </p:sp>
      <p:sp>
        <p:nvSpPr>
          <p:cNvPr id="6" name="check-mark-0">
            <a:extLst xmlns:a="http://schemas.openxmlformats.org/drawingml/2006/main">
              <a:ext uri="{FF2B5EF4-FFF2-40B4-BE49-F238E27FC236}">
                <a16:creationId xmlns:a16="http://schemas.microsoft.com/office/drawing/2014/main" id="{034ABCC9-C7D4-406D-A36F-16BEF34D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859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87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" name="check-label-0">
            <a:extLst xmlns:a="http://schemas.openxmlformats.org/drawingml/2006/main">
              <a:ext uri="{FF2B5EF4-FFF2-40B4-BE49-F238E27FC236}">
                <a16:creationId xmlns:a16="http://schemas.microsoft.com/office/drawing/2014/main" id="{F5D12B37-59A4-4DA2-8E81-37681133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573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No pooled custody</a:t>
            </a:r>
          </a:p>
        </p:txBody>
      </p:sp>
      <p:sp>
        <p:nvSpPr>
          <p:cNvPr id="8" name="check-1">
            <a:extLst xmlns:a="http://schemas.openxmlformats.org/drawingml/2006/main">
              <a:ext uri="{FF2B5EF4-FFF2-40B4-BE49-F238E27FC236}">
                <a16:creationId xmlns:a16="http://schemas.microsoft.com/office/drawing/2014/main" id="{93855A00-241F-4347-A2EC-58B24A45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193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835E"/>
            </a:solidFill>
            <a:prstDash val="solid"/>
          </a:ln>
        </p:spPr>
      </p:sp>
      <p:sp>
        <p:nvSpPr>
          <p:cNvPr id="9" name="check-mark-1">
            <a:extLst xmlns:a="http://schemas.openxmlformats.org/drawingml/2006/main">
              <a:ext uri="{FF2B5EF4-FFF2-40B4-BE49-F238E27FC236}">
                <a16:creationId xmlns:a16="http://schemas.microsoft.com/office/drawing/2014/main" id="{5443F484-3A35-495C-87E0-A99B1968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288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87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0" name="check-label-1">
            <a:extLst xmlns:a="http://schemas.openxmlformats.org/drawingml/2006/main">
              <a:ext uri="{FF2B5EF4-FFF2-40B4-BE49-F238E27FC236}">
                <a16:creationId xmlns:a16="http://schemas.microsoft.com/office/drawing/2014/main" id="{7A255737-077D-4F58-91A1-FBA3F8E1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003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No privileged withdrawal</a:t>
            </a:r>
          </a:p>
        </p:txBody>
      </p:sp>
      <p:sp>
        <p:nvSpPr>
          <p:cNvPr id="11" name="check-2">
            <a:extLst xmlns:a="http://schemas.openxmlformats.org/drawingml/2006/main">
              <a:ext uri="{FF2B5EF4-FFF2-40B4-BE49-F238E27FC236}">
                <a16:creationId xmlns:a16="http://schemas.microsoft.com/office/drawing/2014/main" id="{4CA860E5-C787-4C14-B635-AA2A55B1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835E"/>
            </a:solidFill>
            <a:prstDash val="solid"/>
          </a:ln>
        </p:spPr>
      </p:sp>
      <p:sp>
        <p:nvSpPr>
          <p:cNvPr id="12" name="check-mark-2">
            <a:extLst xmlns:a="http://schemas.openxmlformats.org/drawingml/2006/main">
              <a:ext uri="{FF2B5EF4-FFF2-40B4-BE49-F238E27FC236}">
                <a16:creationId xmlns:a16="http://schemas.microsoft.com/office/drawing/2014/main" id="{18B0922A-58A1-4BF0-95A7-0683CF054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718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87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3" name="check-label-2">
            <a:extLst xmlns:a="http://schemas.openxmlformats.org/drawingml/2006/main">
              <a:ext uri="{FF2B5EF4-FFF2-40B4-BE49-F238E27FC236}">
                <a16:creationId xmlns:a16="http://schemas.microsoft.com/office/drawing/2014/main" id="{43B5D16F-30CC-4B36-8F89-FC8C6C9D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No recipient self-share</a:t>
            </a:r>
          </a:p>
        </p:txBody>
      </p:sp>
      <p:sp>
        <p:nvSpPr>
          <p:cNvPr id="14" name="check-3">
            <a:extLst xmlns:a="http://schemas.openxmlformats.org/drawingml/2006/main">
              <a:ext uri="{FF2B5EF4-FFF2-40B4-BE49-F238E27FC236}">
                <a16:creationId xmlns:a16="http://schemas.microsoft.com/office/drawing/2014/main" id="{96B4D442-5E0F-44A6-AB3D-414AB2ED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835E"/>
            </a:solidFill>
            <a:prstDash val="solid"/>
          </a:ln>
        </p:spPr>
      </p:sp>
      <p:sp>
        <p:nvSpPr>
          <p:cNvPr id="15" name="check-mark-3">
            <a:extLst xmlns:a="http://schemas.openxmlformats.org/drawingml/2006/main">
              <a:ext uri="{FF2B5EF4-FFF2-40B4-BE49-F238E27FC236}">
                <a16:creationId xmlns:a16="http://schemas.microsoft.com/office/drawing/2014/main" id="{87A4A994-67AC-4A1A-B56D-AC15734E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1477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87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6" name="check-label-3">
            <a:extLst xmlns:a="http://schemas.openxmlformats.org/drawingml/2006/main">
              <a:ext uri="{FF2B5EF4-FFF2-40B4-BE49-F238E27FC236}">
                <a16:creationId xmlns:a16="http://schemas.microsoft.com/office/drawing/2014/main" id="{9050A645-17E7-4DA5-B307-276BF7C2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Reentrancy protection</a:t>
            </a:r>
          </a:p>
        </p:txBody>
      </p:sp>
      <p:sp>
        <p:nvSpPr>
          <p:cNvPr id="17" name="check-4">
            <a:extLst xmlns:a="http://schemas.openxmlformats.org/drawingml/2006/main">
              <a:ext uri="{FF2B5EF4-FFF2-40B4-BE49-F238E27FC236}">
                <a16:creationId xmlns:a16="http://schemas.microsoft.com/office/drawing/2014/main" id="{3A63C389-E547-42D8-8064-0F8BCC3E0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482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15835E"/>
            </a:solidFill>
            <a:prstDash val="solid"/>
          </a:ln>
        </p:spPr>
      </p:sp>
      <p:sp>
        <p:nvSpPr>
          <p:cNvPr id="18" name="check-mark-4">
            <a:extLst xmlns:a="http://schemas.openxmlformats.org/drawingml/2006/main">
              <a:ext uri="{FF2B5EF4-FFF2-40B4-BE49-F238E27FC236}">
                <a16:creationId xmlns:a16="http://schemas.microsoft.com/office/drawing/2014/main" id="{055F4FA5-B6F0-45B4-A28B-435800ACA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57725"/>
            <a:ext cx="209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8787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check-label-4">
            <a:extLst xmlns:a="http://schemas.openxmlformats.org/drawingml/2006/main">
              <a:ext uri="{FF2B5EF4-FFF2-40B4-BE49-F238E27FC236}">
                <a16:creationId xmlns:a16="http://schemas.microsoft.com/office/drawing/2014/main" id="{8DCE21F7-35DD-4327-88DA-8FE5E8A8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Exact fixed shares</a:t>
            </a:r>
          </a:p>
        </p:txBody>
      </p:sp>
      <p:sp>
        <p:nvSpPr>
          <p:cNvPr id="20" name="security-foot">
            <a:extLst xmlns:a="http://schemas.openxmlformats.org/drawingml/2006/main">
              <a:ext uri="{FF2B5EF4-FFF2-40B4-BE49-F238E27FC236}">
                <a16:creationId xmlns:a16="http://schemas.microsoft.com/office/drawing/2014/main" id="{F41F5B07-6D20-4331-8647-0E5FA35B8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5305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68F2"/>
                </a:solidFill>
                <a:latin typeface="Arial"/>
                <a:ea typeface="Arial"/>
                <a:cs typeface="Arial"/>
              </a:rPr>
              <a:t>Threat model and invariant tests are included in the repository.</a:t>
            </a:r>
          </a:p>
        </p:txBody>
      </p:sp>
    </p:spTree>
    <p:extLst>
      <p:ext uri="{BB962C8B-B14F-4D97-AF65-F5344CB8AC3E}">
        <p14:creationId xmlns:p14="http://schemas.microsoft.com/office/powerpoint/2010/main" val="640980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D5A3023-30B5-4CE3-B272-7AF4E6C7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56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Attestcoin is a deliberate Ethereum-only proof lane</a:t>
            </a:r>
          </a:p>
        </p:txBody>
      </p:sp>
      <p:sp>
        <p:nvSpPr>
          <p:cNvPr id="2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FF09D5D4-1C00-4A42-9E7E-6E546C91B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1912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attestcoin-intro">
            <a:extLst xmlns:a="http://schemas.openxmlformats.org/drawingml/2006/main">
              <a:ext uri="{FF2B5EF4-FFF2-40B4-BE49-F238E27FC236}">
                <a16:creationId xmlns:a16="http://schemas.microsoft.com/office/drawing/2014/main" id="{FD37FDF0-97D7-40A9-9767-3DE4A4C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990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Chain separation is enforced in code so the demo never overstates what is proven.</a:t>
            </a:r>
          </a:p>
        </p:txBody>
      </p:sp>
      <p:sp>
        <p:nvSpPr>
          <p:cNvPr id="4" name="ethereum-block">
            <a:extLst xmlns:a="http://schemas.openxmlformats.org/drawingml/2006/main">
              <a:ext uri="{FF2B5EF4-FFF2-40B4-BE49-F238E27FC236}">
                <a16:creationId xmlns:a16="http://schemas.microsoft.com/office/drawing/2014/main" id="{663D876F-6E47-4738-A65A-DE1BACA0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05050"/>
            <a:ext cx="52197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5" name="base-block">
            <a:extLst xmlns:a="http://schemas.openxmlformats.org/drawingml/2006/main">
              <a:ext uri="{FF2B5EF4-FFF2-40B4-BE49-F238E27FC236}">
                <a16:creationId xmlns:a16="http://schemas.microsoft.com/office/drawing/2014/main" id="{94712194-BC78-40BA-8A1B-B7F2313E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05050"/>
            <a:ext cx="5219700" cy="25527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DDE1E6"/>
            </a:solidFill>
            <a:prstDash val="solid"/>
          </a:ln>
        </p:spPr>
      </p:sp>
      <p:sp>
        <p:nvSpPr>
          <p:cNvPr id="6" name="ethereum-head">
            <a:extLst xmlns:a="http://schemas.openxmlformats.org/drawingml/2006/main">
              <a:ext uri="{FF2B5EF4-FFF2-40B4-BE49-F238E27FC236}">
                <a16:creationId xmlns:a16="http://schemas.microsoft.com/office/drawing/2014/main" id="{1BDC0F22-40E9-4108-B660-F6761E3CD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5835E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835E"/>
                </a:solidFill>
                <a:latin typeface="Arial"/>
                <a:ea typeface="Arial"/>
                <a:cs typeface="Arial"/>
              </a:rPr>
              <a:t>Ethereum Sepolia</a:t>
            </a:r>
          </a:p>
        </p:txBody>
      </p:sp>
      <p:sp>
        <p:nvSpPr>
          <p:cNvPr id="7" name="ethereum-copy">
            <a:extLst xmlns:a="http://schemas.openxmlformats.org/drawingml/2006/main">
              <a:ext uri="{FF2B5EF4-FFF2-40B4-BE49-F238E27FC236}">
                <a16:creationId xmlns:a16="http://schemas.microsoft.com/office/drawing/2014/main" id="{699C202C-AFD2-4B4B-9D1E-EFBC5896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286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Accepted source chain</a:t>
            </a:r>
          </a:p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Receipt inspected</a:t>
            </a:r>
          </a:p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Proof built</a:t>
            </a:r>
          </a:p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BlockProver verification supported</a:t>
            </a:r>
          </a:p>
        </p:txBody>
      </p:sp>
      <p:sp>
        <p:nvSpPr>
          <p:cNvPr id="8" name="base-head">
            <a:extLst xmlns:a="http://schemas.openxmlformats.org/drawingml/2006/main">
              <a:ext uri="{FF2B5EF4-FFF2-40B4-BE49-F238E27FC236}">
                <a16:creationId xmlns:a16="http://schemas.microsoft.com/office/drawing/2014/main" id="{FC0F2820-D272-4492-A865-72F44BFAD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289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Base Sepolia</a:t>
            </a:r>
          </a:p>
        </p:txBody>
      </p:sp>
      <p:sp>
        <p:nvSpPr>
          <p:cNvPr id="9" name="base-copy">
            <a:extLst xmlns:a="http://schemas.openxmlformats.org/drawingml/2006/main">
              <a:ext uri="{FF2B5EF4-FFF2-40B4-BE49-F238E27FC236}">
                <a16:creationId xmlns:a16="http://schemas.microsoft.com/office/drawing/2014/main" id="{B3DF4907-E57E-4572-8192-E7A77E1BD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28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Settlement supported</a:t>
            </a:r>
          </a:p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Builder Code attribution supported</a:t>
            </a:r>
          </a:p>
          <a:p xmlns:a="http://schemas.openxmlformats.org/drawingml/2006/main">
            <a:pPr algn="l">
              <a:defRPr sz="1725" b="0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21417"/>
                </a:solidFill>
                <a:latin typeface="Arial"/>
                <a:ea typeface="Arial"/>
                <a:cs typeface="Arial"/>
              </a:rPr>
              <a:t>Attestcoin proof requests rejected</a:t>
            </a:r>
          </a:p>
        </p:txBody>
      </p:sp>
      <p:sp>
        <p:nvSpPr>
          <p:cNvPr id="10" name="attestcoin-foot">
            <a:extLst xmlns:a="http://schemas.openxmlformats.org/drawingml/2006/main">
              <a:ext uri="{FF2B5EF4-FFF2-40B4-BE49-F238E27FC236}">
                <a16:creationId xmlns:a16="http://schemas.microsoft.com/office/drawing/2014/main" id="{16B2919F-740D-4F7F-856A-E33699B6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7791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7791F"/>
                </a:solidFill>
                <a:latin typeface="Arial"/>
                <a:ea typeface="Arial"/>
                <a:cs typeface="Arial"/>
              </a:rPr>
              <a:t>Proof evidence is emitted only after source transaction inspection and verification steps complete.</a:t>
            </a:r>
          </a:p>
        </p:txBody>
      </p:sp>
    </p:spTree>
    <p:extLst>
      <p:ext uri="{BB962C8B-B14F-4D97-AF65-F5344CB8AC3E}">
        <p14:creationId xmlns:p14="http://schemas.microsoft.com/office/powerpoint/2010/main" val="2129785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eyebrow">
            <a:extLst xmlns:a="http://schemas.openxmlformats.org/drawingml/2006/main">
              <a:ext uri="{FF2B5EF4-FFF2-40B4-BE49-F238E27FC236}">
                <a16:creationId xmlns:a16="http://schemas.microsoft.com/office/drawing/2014/main" id="{5E39328B-9A04-45F4-9F49-E64375E4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68F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68F2"/>
                </a:solidFill>
                <a:latin typeface="Arial"/>
                <a:ea typeface="Arial"/>
                <a:cs typeface="Arial"/>
              </a:rPr>
              <a:t>DELIVERY STATUS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E347AE22-697B-48D3-9CA1-8754D8F7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9525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323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Built, tested,</a:t>
            </a:r>
          </a:p>
          <a:p xmlns:a="http://schemas.openxmlformats.org/drawingml/2006/main">
            <a:pPr algn="l">
              <a:defRPr sz="5100" b="1">
                <a:solidFill>
                  <a:srgbClr val="121417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21417"/>
                </a:solidFill>
                <a:latin typeface="Arial"/>
                <a:ea typeface="Arial"/>
                <a:cs typeface="Arial"/>
              </a:rPr>
              <a:t>ready for public testnet evidence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DD7F11FE-C5EE-4842-A285-2A7397559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5290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13 web tests  |  15 Attestcoin tests  |  29 Foundry tests</a:t>
            </a:r>
          </a:p>
          <a:p xmlns:a="http://schemas.openxmlformats.org/drawingml/2006/main">
            <a:pPr algn="l">
              <a:defRPr sz="1950" b="0">
                <a:solidFill>
                  <a:srgbClr val="58616E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16E"/>
                </a:solidFill>
                <a:latin typeface="Arial"/>
                <a:ea typeface="Arial"/>
                <a:cs typeface="Arial"/>
              </a:rPr>
              <a:t>Public repository, live URLs and deployment hashes are added after release.</a:t>
            </a:r>
          </a:p>
        </p:txBody>
      </p:sp>
      <p:sp>
        <p:nvSpPr>
          <p:cNvPr id="4" name="close-accent-blue">
            <a:extLst xmlns:a="http://schemas.openxmlformats.org/drawingml/2006/main">
              <a:ext uri="{FF2B5EF4-FFF2-40B4-BE49-F238E27FC236}">
                <a16:creationId xmlns:a16="http://schemas.microsoft.com/office/drawing/2014/main" id="{E8BEB886-B008-4F8F-84EC-C37CB703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accent-green">
            <a:extLst xmlns:a="http://schemas.openxmlformats.org/drawingml/2006/main">
              <a:ext uri="{FF2B5EF4-FFF2-40B4-BE49-F238E27FC236}">
                <a16:creationId xmlns:a16="http://schemas.microsoft.com/office/drawing/2014/main" id="{6FA2962C-C5F5-4764-AC75-4DED35E7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6388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3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accent-amber">
            <a:extLst xmlns:a="http://schemas.openxmlformats.org/drawingml/2006/main">
              <a:ext uri="{FF2B5EF4-FFF2-40B4-BE49-F238E27FC236}">
                <a16:creationId xmlns:a16="http://schemas.microsoft.com/office/drawing/2014/main" id="{85D358FC-352B-4945-AC45-E868BA034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38800"/>
            <a:ext cx="2857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91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70296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2026-08-12T03:25:48.3400000Z</dcterms:created>
  <dcterms:modified xsi:type="dcterms:W3CDTF">2026-08-12T03:25:48.3400000Z</dcterms:modified>
</coreProperties>
</file>