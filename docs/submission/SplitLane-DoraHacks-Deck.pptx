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4a2673868d4355" /><Relationship Type="http://schemas.openxmlformats.org/officeDocument/2006/relationships/extended-properties" Target="/docProps/app.xml" Id="R279a8479bbc5416a" /><Relationship Type="http://schemas.openxmlformats.org/officeDocument/2006/relationships/officeDocument" Target="/ppt/presentation.xml" Id="Rfb583744524b4f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818c23a9734038"/>
  </p:sldMasterIdLst>
  <p:notesMasterIdLst>
    <p:notesMasterId xmlns:r="http://schemas.openxmlformats.org/officeDocument/2006/relationships" r:id="Rf2cd204ee1c44f76"/>
  </p:notesMasterIdLst>
  <p:sldIdLst>
    <p:sldId xmlns:r="http://schemas.openxmlformats.org/officeDocument/2006/relationships" id="256" r:id="Rdc0d65272e6e47fa"/>
    <p:sldId xmlns:r="http://schemas.openxmlformats.org/officeDocument/2006/relationships" id="257" r:id="R75da191574e34773"/>
    <p:sldId xmlns:r="http://schemas.openxmlformats.org/officeDocument/2006/relationships" id="258" r:id="Raf65527270ea4aa6"/>
    <p:sldId xmlns:r="http://schemas.openxmlformats.org/officeDocument/2006/relationships" id="259" r:id="R6e1fa37bc2f7495e"/>
    <p:sldId xmlns:r="http://schemas.openxmlformats.org/officeDocument/2006/relationships" id="260" r:id="Rb9345e11964348cb"/>
    <p:sldId xmlns:r="http://schemas.openxmlformats.org/officeDocument/2006/relationships" id="261" r:id="Rf3c4d3d837994fe4"/>
    <p:sldId xmlns:r="http://schemas.openxmlformats.org/officeDocument/2006/relationships" id="262" r:id="R0ff5d1134ec8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b8ef586c154187" /><Relationship Type="http://schemas.openxmlformats.org/officeDocument/2006/relationships/slideMaster" Target="/ppt/slideMasters/slideMaster1.xml" Id="R9f818c23a9734038" /><Relationship Type="http://schemas.openxmlformats.org/officeDocument/2006/relationships/notesMaster" Target="/ppt/notesMasters/notesMaster1.xml" Id="Rf2cd204ee1c44f76" /><Relationship Type="http://schemas.openxmlformats.org/officeDocument/2006/relationships/presProps" Target="/ppt/presProps.xml" Id="R6c6e47c246604a14" /><Relationship Type="http://schemas.openxmlformats.org/officeDocument/2006/relationships/tableStyles" Target="/ppt/tableStyles.xml" Id="R65a8c46d95224e2a" /><Relationship Type="http://schemas.openxmlformats.org/officeDocument/2006/relationships/slide" Target="/ppt/slides/slide1.xml" Id="Rdc0d65272e6e47fa" /><Relationship Type="http://schemas.openxmlformats.org/officeDocument/2006/relationships/slide" Target="/ppt/slides/slide2.xml" Id="R75da191574e34773" /><Relationship Type="http://schemas.openxmlformats.org/officeDocument/2006/relationships/slide" Target="/ppt/slides/slide3.xml" Id="Raf65527270ea4aa6" /><Relationship Type="http://schemas.openxmlformats.org/officeDocument/2006/relationships/slide" Target="/ppt/slides/slide4.xml" Id="R6e1fa37bc2f7495e" /><Relationship Type="http://schemas.openxmlformats.org/officeDocument/2006/relationships/slide" Target="/ppt/slides/slide5.xml" Id="Rb9345e11964348cb" /><Relationship Type="http://schemas.openxmlformats.org/officeDocument/2006/relationships/slide" Target="/ppt/slides/slide6.xml" Id="Rf3c4d3d837994fe4" /><Relationship Type="http://schemas.openxmlformats.org/officeDocument/2006/relationships/slide" Target="/ppt/slides/slide7.xml" Id="R0ff5d1134ec8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040e12782d47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b89ef9ffbb400c" /><Relationship Type="http://schemas.openxmlformats.org/officeDocument/2006/relationships/notesMaster" Target="/ppt/notesMasters/notesMaster1.xml" Id="R1ccf21e7ef924a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024bf8ec164bf3" /><Relationship Type="http://schemas.openxmlformats.org/officeDocument/2006/relationships/notesMaster" Target="/ppt/notesMasters/notesMaster1.xml" Id="R5ebb06c6b4c84f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3dfdbe18cc4918" /><Relationship Type="http://schemas.openxmlformats.org/officeDocument/2006/relationships/notesMaster" Target="/ppt/notesMasters/notesMaster1.xml" Id="R85eaf790874149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9795ea14fb4c6c" /><Relationship Type="http://schemas.openxmlformats.org/officeDocument/2006/relationships/notesMaster" Target="/ppt/notesMasters/notesMaster1.xml" Id="Recb4f571fbb645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fc4c40f3f941d0" /><Relationship Type="http://schemas.openxmlformats.org/officeDocument/2006/relationships/notesMaster" Target="/ppt/notesMasters/notesMaster1.xml" Id="R427820d3cc1144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e7e65ee23a4810" /><Relationship Type="http://schemas.openxmlformats.org/officeDocument/2006/relationships/notesMaster" Target="/ppt/notesMasters/notesMaster1.xml" Id="Rd2642999d4da40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5cac692b5d4051" /><Relationship Type="http://schemas.openxmlformats.org/officeDocument/2006/relationships/notesMaster" Target="/ppt/notesMasters/notesMaster1.xml" Id="Re5bdfffa017146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(project scope and chain support, accessed 2026-08-12)</a:t>
            </a:r>
          </a:p>
          <a:p xmlns:a="http://schemas.openxmlformats.org/drawingml/2006/main">
            <a:r>
              <a:t>- docs/architecture.md (system design, accessed 2026-08-12)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(problem and solution statement, accessed 2026-08-12)</a:t>
            </a:r>
          </a:p>
          <a:p xmlns:a="http://schemas.openxmlformats.org/drawingml/2006/main">
            <a:r>
              <a:t>- docs/assets/splitlane-dashboard.png (local product screenshot captured 2026-08-12)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docs/demo-script.md (demo flow, accessed 2026-08-12)</a:t>
            </a:r>
          </a:p>
          <a:p xmlns:a="http://schemas.openxmlformats.org/drawingml/2006/main">
            <a:r>
              <a:t>- contracts/src/SplitLane.sol (settlement behavior, accessed 2026-08-12)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 (component and chain boundaries, accessed 2026-08-12)</a:t>
            </a:r>
          </a:p>
          <a:p xmlns:a="http://schemas.openxmlformats.org/drawingml/2006/main">
            <a:r>
              <a:t>- apps/web/src/lib/chains.ts (chain configuration, accessed 2026-08-12)</a:t>
            </a:r>
          </a:p>
          <a:p xmlns:a="http://schemas.openxmlformats.org/drawingml/2006/main">
            <a:r>
              <a:t>- packages/attestcoin/src/workflow.ts (proof workflow, accessed 2026-08-12)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docs/threat-model.md (trust boundaries and mitigations, accessed 2026-08-12)</a:t>
            </a:r>
          </a:p>
          <a:p xmlns:a="http://schemas.openxmlformats.org/drawingml/2006/main">
            <a:r>
              <a:t>- contracts/src/SplitLane.sol (privilege and transfer paths, accessed 2026-08-12)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packages/attestcoin/README.md (supported lane and commands, accessed 2026-08-12)</a:t>
            </a:r>
          </a:p>
          <a:p xmlns:a="http://schemas.openxmlformats.org/drawingml/2006/main">
            <a:r>
              <a:t>- packages/attestcoin/src/constants.ts (source-chain constraint, accessed 2026-08-12)</a:t>
            </a:r>
          </a:p>
          <a:p xmlns:a="http://schemas.openxmlformats.org/drawingml/2006/main">
            <a:r>
              <a:t>- packages/attestcoin/test/workflow.test.ts (rejection and evidence tests, accessed 2026-08-12)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package.json (verification commands, accessed 2026-08-12)</a:t>
            </a:r>
          </a:p>
          <a:p xmlns:a="http://schemas.openxmlformats.org/drawingml/2006/main">
            <a:r>
              <a:t>- Local verification record: web 13/13, Attestcoin 15/15, Foundry 30/30 (2026-08-12)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00c31ee59646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f8d4ac3ea14059" /><Relationship Type="http://schemas.openxmlformats.org/officeDocument/2006/relationships/slideLayout" Target="/ppt/slideLayouts/slideLayout1.xml" Id="R5eba95f1d8784f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ba95f1d8784f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7046b8ba647cf" /><Relationship Type="http://schemas.openxmlformats.org/officeDocument/2006/relationships/image" Target="/ppt/media/image.png" Id="R5392175efd644df8" /><Relationship Type="http://schemas.openxmlformats.org/officeDocument/2006/relationships/notesSlide" Target="/ppt/notesSlides/notesSlide1.xml" Id="R8629e5fdbaca40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40379be434b62" /><Relationship Type="http://schemas.openxmlformats.org/officeDocument/2006/relationships/image" Target="/ppt/media/image.jpeg" Id="Ref0f93c5381b4912" /><Relationship Type="http://schemas.openxmlformats.org/officeDocument/2006/relationships/notesSlide" Target="/ppt/notesSlides/notesSlide2.xml" Id="R6b84aa734cf545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93f72eb644aae" /><Relationship Type="http://schemas.openxmlformats.org/officeDocument/2006/relationships/notesSlide" Target="/ppt/notesSlides/notesSlide3.xml" Id="R16fa500d2ec340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427702f974946" /><Relationship Type="http://schemas.openxmlformats.org/officeDocument/2006/relationships/notesSlide" Target="/ppt/notesSlides/notesSlide4.xml" Id="Re96e23c1fae745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5c53197fd42f6" /><Relationship Type="http://schemas.openxmlformats.org/officeDocument/2006/relationships/notesSlide" Target="/ppt/notesSlides/notesSlide5.xml" Id="Raf5acfda7acc4a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85d7383aa419e" /><Relationship Type="http://schemas.openxmlformats.org/officeDocument/2006/relationships/notesSlide" Target="/ppt/notesSlides/notesSlide6.xml" Id="R095ee497b54949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ad28b5d9946f2" /><Relationship Type="http://schemas.openxmlformats.org/officeDocument/2006/relationships/notesSlide" Target="/ppt/notesSlides/notesSlide7.xml" Id="R87a2bb9895cc4d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2175efd644df8"/>
          <a:stretch xmlns:a="http://schemas.openxmlformats.org/drawingml/2006/main"/>
        </p:blipFill>
        <p:spPr>
          <a:xfrm xmlns:a="http://schemas.openxmlformats.org/drawingml/2006/main">
            <a:off x="533400" y="4191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52EDC40-1261-43D2-BF98-CB38EFAE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68F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68F2"/>
                </a:solidFill>
                <a:latin typeface="Arial"/>
                <a:ea typeface="Arial"/>
                <a:cs typeface="Arial"/>
              </a:rPr>
              <a:t>NON-CUSTODIAL GROUP SETTLEMENT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0C808B58-E131-4C6F-92E0-08AE7063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7429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SplitLane</a:t>
            </a:r>
          </a:p>
        </p:txBody>
      </p:sp>
      <p:sp>
        <p:nvSpPr>
          <p:cNvPr id="4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608C0E64-6E2A-4197-A25E-EA5F3CFB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Exact USDC shares, paid directly to the recipient.</a:t>
            </a:r>
          </a:p>
        </p:txBody>
      </p:sp>
      <p:sp>
        <p:nvSpPr>
          <p:cNvPr id="5" name="title-rule">
            <a:extLst xmlns:a="http://schemas.openxmlformats.org/drawingml/2006/main">
              <a:ext uri="{FF2B5EF4-FFF2-40B4-BE49-F238E27FC236}">
                <a16:creationId xmlns:a16="http://schemas.microsoft.com/office/drawing/2014/main" id="{1FDC6952-DAF6-4493-8B10-84FE80B6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066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6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ck-foot">
            <a:extLst xmlns:a="http://schemas.openxmlformats.org/drawingml/2006/main">
              <a:ext uri="{FF2B5EF4-FFF2-40B4-BE49-F238E27FC236}">
                <a16:creationId xmlns:a16="http://schemas.microsoft.com/office/drawing/2014/main" id="{63440178-0832-477F-9A89-5F15904C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863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Base Sepolia + Ethereum Sepolia  |  Attestcoin proof lane on Creditcoin CC3</a:t>
            </a:r>
          </a:p>
        </p:txBody>
      </p:sp>
    </p:spTree>
    <p:extLst>
      <p:ext uri="{BB962C8B-B14F-4D97-AF65-F5344CB8AC3E}">
        <p14:creationId xmlns:p14="http://schemas.microsoft.com/office/powerpoint/2010/main" val="21285660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EFA685AE-E07C-4D75-B743-BA315157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95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Group expenses need coordination, not custody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988E5E71-FC28-4C00-AE09-D91DD0DA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2BEC79A9-C234-47E6-9D2F-498760A8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4476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Shared bills create three recurring problems: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1. One person fronts the full amount.</a:t>
            </a:r>
          </a:p>
          <a:p xmlns:a="http://schemas.openxmlformats.org/drawingml/2006/main">
            <a:pPr algn="l">
              <a:defRPr sz="20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2. Participants lose track of exact shares.</a:t>
            </a:r>
          </a:p>
          <a:p xmlns:a="http://schemas.openxmlformats.org/drawingml/2006/main">
            <a:pPr algn="l">
              <a:defRPr sz="20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3. Pooled wallets add avoidable trust and withdrawal risk.</a:t>
            </a:r>
          </a:p>
        </p:txBody>
      </p:sp>
      <p:sp>
        <p:nvSpPr>
          <p:cNvPr id="4" name="screenshot-backdrop">
            <a:extLst xmlns:a="http://schemas.openxmlformats.org/drawingml/2006/main">
              <a:ext uri="{FF2B5EF4-FFF2-40B4-BE49-F238E27FC236}">
                <a16:creationId xmlns:a16="http://schemas.microsoft.com/office/drawing/2014/main" id="{D91D2E4D-B0D4-4DEC-943F-9E696FD0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409700"/>
            <a:ext cx="6286500" cy="417195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5F7F9"/>
          </a:solidFill>
          <a:ln xmlns:a="http://schemas.openxmlformats.org/drawingml/2006/main" w="9525">
            <a:solidFill>
              <a:srgbClr val="DDE1E6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0f93c5381b4912"/>
          <a:stretch xmlns:a="http://schemas.openxmlformats.org/drawingml/2006/main"/>
        </p:blipFill>
        <p:spPr>
          <a:xfrm xmlns:a="http://schemas.openxmlformats.org/drawingml/2006/main">
            <a:off x="5505450" y="2080587"/>
            <a:ext cx="6057900" cy="2830175"/>
          </a:xfrm>
          <a:prstGeom xmlns:a="http://schemas.openxmlformats.org/drawingml/2006/main" prst="roundRect">
            <a:avLst>
              <a:gd name="adj" fmla="val 1932"/>
            </a:avLst>
          </a:prstGeom>
        </p:spPr>
      </p:pic>
      <p:sp>
        <p:nvSpPr>
          <p:cNvPr id="6" name="solution-line">
            <a:extLst xmlns:a="http://schemas.openxmlformats.org/drawingml/2006/main">
              <a:ext uri="{FF2B5EF4-FFF2-40B4-BE49-F238E27FC236}">
                <a16:creationId xmlns:a16="http://schemas.microsoft.com/office/drawing/2014/main" id="{E763E38C-21D0-4FDE-8C03-0CE42BD9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68F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668F2"/>
                </a:solidFill>
                <a:latin typeface="Arial"/>
                <a:ea typeface="Arial"/>
                <a:cs typeface="Arial"/>
              </a:rPr>
              <a:t>SplitLane records the obligation and lets every participant settle their own share.</a:t>
            </a:r>
          </a:p>
        </p:txBody>
      </p:sp>
    </p:spTree>
    <p:extLst>
      <p:ext uri="{BB962C8B-B14F-4D97-AF65-F5344CB8AC3E}">
        <p14:creationId xmlns:p14="http://schemas.microsoft.com/office/powerpoint/2010/main" val="13253030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289D33E-07ED-4F28-B9E1-F1DB9DE8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499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A tab moves from agreement to direct settlement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3D8F394C-138C-4F08-8B27-BF79ADE9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609DDE10-8991-4BFA-9A3A-88609A4C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1009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ep-dot-0">
            <a:extLst xmlns:a="http://schemas.openxmlformats.org/drawingml/2006/main">
              <a:ext uri="{FF2B5EF4-FFF2-40B4-BE49-F238E27FC236}">
                <a16:creationId xmlns:a16="http://schemas.microsoft.com/office/drawing/2014/main" id="{FC264734-A29F-44F8-A5B1-6A579F02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257175" cy="257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6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label-0">
            <a:extLst xmlns:a="http://schemas.openxmlformats.org/drawingml/2006/main">
              <a:ext uri="{FF2B5EF4-FFF2-40B4-BE49-F238E27FC236}">
                <a16:creationId xmlns:a16="http://schemas.microsoft.com/office/drawing/2014/main" id="{5AC047DC-A1BB-4802-8896-8377007D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68F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668F2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6" name="step-head-0">
            <a:extLst xmlns:a="http://schemas.openxmlformats.org/drawingml/2006/main">
              <a:ext uri="{FF2B5EF4-FFF2-40B4-BE49-F238E27FC236}">
                <a16:creationId xmlns:a16="http://schemas.microsoft.com/office/drawing/2014/main" id="{1C599616-1C44-4C1B-BA2A-24D0E278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909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Recipient defines the tab</a:t>
            </a:r>
          </a:p>
        </p:txBody>
      </p:sp>
      <p:sp>
        <p:nvSpPr>
          <p:cNvPr id="7" name="step-body-0">
            <a:extLst xmlns:a="http://schemas.openxmlformats.org/drawingml/2006/main">
              <a:ext uri="{FF2B5EF4-FFF2-40B4-BE49-F238E27FC236}">
                <a16:creationId xmlns:a16="http://schemas.microsoft.com/office/drawing/2014/main" id="{E1C4BA9F-B595-484E-859C-A07E0BF8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Title, metadata hash, participants and exact USDC shares are recorded onchain.</a:t>
            </a:r>
          </a:p>
        </p:txBody>
      </p:sp>
      <p:sp>
        <p:nvSpPr>
          <p:cNvPr id="8" name="step-dot-1">
            <a:extLst xmlns:a="http://schemas.openxmlformats.org/drawingml/2006/main">
              <a:ext uri="{FF2B5EF4-FFF2-40B4-BE49-F238E27FC236}">
                <a16:creationId xmlns:a16="http://schemas.microsoft.com/office/drawing/2014/main" id="{88700697-317E-49CE-963C-12D4EC76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57500"/>
            <a:ext cx="257175" cy="257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24693A69-000C-456F-BC50-7DDE97FB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24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SETTLE</a:t>
            </a:r>
          </a:p>
        </p:txBody>
      </p:sp>
      <p:sp>
        <p:nvSpPr>
          <p:cNvPr id="10" name="step-head-1">
            <a:extLst xmlns:a="http://schemas.openxmlformats.org/drawingml/2006/main">
              <a:ext uri="{FF2B5EF4-FFF2-40B4-BE49-F238E27FC236}">
                <a16:creationId xmlns:a16="http://schemas.microsoft.com/office/drawing/2014/main" id="{70ACB8CF-0DF7-4448-86D0-712B7278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909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Each participant pays</a:t>
            </a:r>
          </a:p>
        </p:txBody>
      </p:sp>
      <p:sp>
        <p:nvSpPr>
          <p:cNvPr id="11" name="step-body-1">
            <a:extLst xmlns:a="http://schemas.openxmlformats.org/drawingml/2006/main">
              <a:ext uri="{FF2B5EF4-FFF2-40B4-BE49-F238E27FC236}">
                <a16:creationId xmlns:a16="http://schemas.microsoft.com/office/drawing/2014/main" id="{80077175-2C5C-4E8A-884F-C445B3FB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2910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USDC moves from that participant directly to the recipient after approval.</a:t>
            </a:r>
          </a:p>
        </p:txBody>
      </p:sp>
      <p:sp>
        <p:nvSpPr>
          <p:cNvPr id="12" name="step-dot-2">
            <a:extLst xmlns:a="http://schemas.openxmlformats.org/drawingml/2006/main">
              <a:ext uri="{FF2B5EF4-FFF2-40B4-BE49-F238E27FC236}">
                <a16:creationId xmlns:a16="http://schemas.microsoft.com/office/drawing/2014/main" id="{AF18B6FB-ED39-4F60-9778-6AF62CFE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57500"/>
            <a:ext cx="257175" cy="257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C28C1369-E581-4F2B-921F-4367B918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24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7791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7791F"/>
                </a:solidFill>
                <a:latin typeface="Arial"/>
                <a:ea typeface="Arial"/>
                <a:cs typeface="Arial"/>
              </a:rPr>
              <a:t>PROVE</a:t>
            </a:r>
          </a:p>
        </p:txBody>
      </p:sp>
      <p:sp>
        <p:nvSpPr>
          <p:cNvPr id="14" name="step-head-2">
            <a:extLst xmlns:a="http://schemas.openxmlformats.org/drawingml/2006/main">
              <a:ext uri="{FF2B5EF4-FFF2-40B4-BE49-F238E27FC236}">
                <a16:creationId xmlns:a16="http://schemas.microsoft.com/office/drawing/2014/main" id="{70A77DF1-789B-4D0C-8C8A-C16F130E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Receipt evidence is verified</a:t>
            </a:r>
          </a:p>
        </p:txBody>
      </p:sp>
      <p:sp>
        <p:nvSpPr>
          <p:cNvPr id="15" name="step-body-2">
            <a:extLst xmlns:a="http://schemas.openxmlformats.org/drawingml/2006/main">
              <a:ext uri="{FF2B5EF4-FFF2-40B4-BE49-F238E27FC236}">
                <a16:creationId xmlns:a16="http://schemas.microsoft.com/office/drawing/2014/main" id="{4D36C295-CD53-41E7-B3F3-7D692CE6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Ethereum Sepolia receipts can enter the Attestcoin proof lane on CC3.</a:t>
            </a:r>
          </a:p>
        </p:txBody>
      </p:sp>
    </p:spTree>
    <p:extLst>
      <p:ext uri="{BB962C8B-B14F-4D97-AF65-F5344CB8AC3E}">
        <p14:creationId xmlns:p14="http://schemas.microsoft.com/office/powerpoint/2010/main" val="6819569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42220AF2-0144-4809-B7D6-11FCE7AA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Two chains share one narrow contract surface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CAE8AB62-61A4-497D-80A9-2F8CAE0A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architecture-region-0">
            <a:extLst xmlns:a="http://schemas.openxmlformats.org/drawingml/2006/main">
              <a:ext uri="{FF2B5EF4-FFF2-40B4-BE49-F238E27FC236}">
                <a16:creationId xmlns:a16="http://schemas.microsoft.com/office/drawing/2014/main" id="{D26CE7C5-6363-4A18-B255-6F8E70C0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50482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DF3FF"/>
          </a:solidFill>
          <a:ln xmlns:a="http://schemas.openxmlformats.org/drawingml/2006/main" w="9525">
            <a:solidFill>
              <a:srgbClr val="DDE1E6"/>
            </a:solidFill>
            <a:prstDash val="solid"/>
          </a:ln>
        </p:spPr>
      </p:sp>
      <p:sp>
        <p:nvSpPr>
          <p:cNvPr id="4" name="architecture-head-0">
            <a:extLst xmlns:a="http://schemas.openxmlformats.org/drawingml/2006/main">
              <a:ext uri="{FF2B5EF4-FFF2-40B4-BE49-F238E27FC236}">
                <a16:creationId xmlns:a16="http://schemas.microsoft.com/office/drawing/2014/main" id="{85CCE109-297E-4D6A-9929-4306452E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71650"/>
            <a:ext cx="459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68F2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68F2"/>
                </a:solidFill>
                <a:latin typeface="Arial"/>
                <a:ea typeface="Arial"/>
                <a:cs typeface="Arial"/>
              </a:rPr>
              <a:t>Web dashboard</a:t>
            </a:r>
          </a:p>
        </p:txBody>
      </p:sp>
      <p:sp>
        <p:nvSpPr>
          <p:cNvPr id="5" name="architecture-body-0">
            <a:extLst xmlns:a="http://schemas.openxmlformats.org/drawingml/2006/main">
              <a:ext uri="{FF2B5EF4-FFF2-40B4-BE49-F238E27FC236}">
                <a16:creationId xmlns:a16="http://schemas.microsoft.com/office/drawing/2014/main" id="{DB68D278-28ED-444F-8A7E-1D383CD7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4591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Next.js + wagmi/viem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Base Account wallet connection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Shareable chain-aware tab URLs</a:t>
            </a:r>
          </a:p>
        </p:txBody>
      </p:sp>
      <p:sp>
        <p:nvSpPr>
          <p:cNvPr id="6" name="architecture-region-1">
            <a:extLst xmlns:a="http://schemas.openxmlformats.org/drawingml/2006/main">
              <a:ext uri="{FF2B5EF4-FFF2-40B4-BE49-F238E27FC236}">
                <a16:creationId xmlns:a16="http://schemas.microsoft.com/office/drawing/2014/main" id="{3ECC9D3B-94B1-42D8-870C-3823682C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62100"/>
            <a:ext cx="50482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DDE1E6"/>
            </a:solidFill>
            <a:prstDash val="solid"/>
          </a:ln>
        </p:spPr>
      </p:sp>
      <p:sp>
        <p:nvSpPr>
          <p:cNvPr id="7" name="architecture-head-1">
            <a:extLst xmlns:a="http://schemas.openxmlformats.org/drawingml/2006/main">
              <a:ext uri="{FF2B5EF4-FFF2-40B4-BE49-F238E27FC236}">
                <a16:creationId xmlns:a16="http://schemas.microsoft.com/office/drawing/2014/main" id="{AD17F223-7D90-4897-ABDC-CFCB75EC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71650"/>
            <a:ext cx="459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SplitLane contract</a:t>
            </a:r>
          </a:p>
        </p:txBody>
      </p:sp>
      <p:sp>
        <p:nvSpPr>
          <p:cNvPr id="8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8477314F-8876-44D0-91DC-516B265E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86000"/>
            <a:ext cx="4591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Immutable tab records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Exact participant shares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Direct USDC transferFrom settlement</a:t>
            </a:r>
          </a:p>
        </p:txBody>
      </p:sp>
      <p:sp>
        <p:nvSpPr>
          <p:cNvPr id="9" name="architecture-region-2">
            <a:extLst xmlns:a="http://schemas.openxmlformats.org/drawingml/2006/main">
              <a:ext uri="{FF2B5EF4-FFF2-40B4-BE49-F238E27FC236}">
                <a16:creationId xmlns:a16="http://schemas.microsoft.com/office/drawing/2014/main" id="{DC1B274C-DE3E-4F01-A84B-651E8758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52850"/>
            <a:ext cx="50482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5F7F9"/>
          </a:solidFill>
          <a:ln xmlns:a="http://schemas.openxmlformats.org/drawingml/2006/main" w="9525">
            <a:solidFill>
              <a:srgbClr val="DDE1E6"/>
            </a:solidFill>
            <a:prstDash val="solid"/>
          </a:ln>
        </p:spPr>
      </p:sp>
      <p:sp>
        <p:nvSpPr>
          <p:cNvPr id="10" name="architecture-head-2">
            <a:extLst xmlns:a="http://schemas.openxmlformats.org/drawingml/2006/main">
              <a:ext uri="{FF2B5EF4-FFF2-40B4-BE49-F238E27FC236}">
                <a16:creationId xmlns:a16="http://schemas.microsoft.com/office/drawing/2014/main" id="{5CF627E0-2220-4D7C-AEA7-701D5207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62400"/>
            <a:ext cx="459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Base Sepolia lane</a:t>
            </a:r>
          </a:p>
        </p:txBody>
      </p:sp>
      <p:sp>
        <p:nvSpPr>
          <p:cNvPr id="11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B22DC967-2988-4D01-957C-48249BD6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591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Official Circle USDC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Builder Code attribution support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Base explorer transaction links</a:t>
            </a:r>
          </a:p>
        </p:txBody>
      </p:sp>
      <p:sp>
        <p:nvSpPr>
          <p:cNvPr id="12" name="architecture-region-3">
            <a:extLst xmlns:a="http://schemas.openxmlformats.org/drawingml/2006/main">
              <a:ext uri="{FF2B5EF4-FFF2-40B4-BE49-F238E27FC236}">
                <a16:creationId xmlns:a16="http://schemas.microsoft.com/office/drawing/2014/main" id="{4CEB275C-94AC-48B4-9257-26ABC2AD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52850"/>
            <a:ext cx="50482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6E6"/>
          </a:solidFill>
          <a:ln xmlns:a="http://schemas.openxmlformats.org/drawingml/2006/main" w="9525">
            <a:solidFill>
              <a:srgbClr val="DDE1E6"/>
            </a:solidFill>
            <a:prstDash val="solid"/>
          </a:ln>
        </p:spPr>
      </p:sp>
      <p:sp>
        <p:nvSpPr>
          <p:cNvPr id="13" name="architecture-head-3">
            <a:extLst xmlns:a="http://schemas.openxmlformats.org/drawingml/2006/main">
              <a:ext uri="{FF2B5EF4-FFF2-40B4-BE49-F238E27FC236}">
                <a16:creationId xmlns:a16="http://schemas.microsoft.com/office/drawing/2014/main" id="{1E31D5E8-A15A-4498-A6AA-E50784EC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62400"/>
            <a:ext cx="4591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7791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7791F"/>
                </a:solidFill>
                <a:latin typeface="Arial"/>
                <a:ea typeface="Arial"/>
                <a:cs typeface="Arial"/>
              </a:rPr>
              <a:t>Ethereum + Attestcoin lane</a:t>
            </a:r>
          </a:p>
        </p:txBody>
      </p:sp>
      <p:sp>
        <p:nvSpPr>
          <p:cNvPr id="14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C7EB6B51-1F03-483D-BED4-E69EA622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76750"/>
            <a:ext cx="4591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Ethereum Sepolia receipt inspection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Proof construction and verification</a:t>
            </a:r>
          </a:p>
          <a:p xmlns:a="http://schemas.openxmlformats.org/drawingml/2006/main">
            <a:pPr algn="l">
              <a:defRPr sz="15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Creditcoin CC3 BlockProver</a:t>
            </a:r>
          </a:p>
        </p:txBody>
      </p:sp>
    </p:spTree>
    <p:extLst>
      <p:ext uri="{BB962C8B-B14F-4D97-AF65-F5344CB8AC3E}">
        <p14:creationId xmlns:p14="http://schemas.microsoft.com/office/powerpoint/2010/main" val="12167888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805E8DB3-509E-4B19-B571-1B9F4D98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66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The security model removes pooled-fund failure modes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5FBE065B-8DAD-404E-9DC5-603678A0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security-thesis">
            <a:extLst xmlns:a="http://schemas.openxmlformats.org/drawingml/2006/main">
              <a:ext uri="{FF2B5EF4-FFF2-40B4-BE49-F238E27FC236}">
                <a16:creationId xmlns:a16="http://schemas.microsoft.com/office/drawing/2014/main" id="{CD57077B-E158-4353-9E9B-218E0EB7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5810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The contract records obligations. It does not become a bank account.</a:t>
            </a:r>
          </a:p>
        </p:txBody>
      </p:sp>
      <p:sp>
        <p:nvSpPr>
          <p:cNvPr id="4" name="security-copy">
            <a:extLst xmlns:a="http://schemas.openxmlformats.org/drawingml/2006/main">
              <a:ext uri="{FF2B5EF4-FFF2-40B4-BE49-F238E27FC236}">
                <a16:creationId xmlns:a16="http://schemas.microsoft.com/office/drawing/2014/main" id="{F1F5C7B5-EC89-4CBB-8F92-7DAB2F75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5334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Payment remains participant-initiated. The contract has no owner, upgrade, admin withdrawal, recovery, or native-currency path.</a:t>
            </a:r>
          </a:p>
        </p:txBody>
      </p:sp>
      <p:sp>
        <p:nvSpPr>
          <p:cNvPr id="5" name="check-0">
            <a:extLst xmlns:a="http://schemas.openxmlformats.org/drawingml/2006/main">
              <a:ext uri="{FF2B5EF4-FFF2-40B4-BE49-F238E27FC236}">
                <a16:creationId xmlns:a16="http://schemas.microsoft.com/office/drawing/2014/main" id="{F6158A68-AF29-4446-9951-AC4F2D10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76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15835E"/>
            </a:solidFill>
            <a:prstDash val="solid"/>
          </a:ln>
        </p:spPr>
      </p:sp>
      <p:sp>
        <p:nvSpPr>
          <p:cNvPr id="6" name="check-mark-0">
            <a:extLst xmlns:a="http://schemas.openxmlformats.org/drawingml/2006/main">
              <a:ext uri="{FF2B5EF4-FFF2-40B4-BE49-F238E27FC236}">
                <a16:creationId xmlns:a16="http://schemas.microsoft.com/office/drawing/2014/main" id="{07DDFEFA-431E-4061-AD6D-B748D9DC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8592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8787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" name="check-label-0">
            <a:extLst xmlns:a="http://schemas.openxmlformats.org/drawingml/2006/main">
              <a:ext uri="{FF2B5EF4-FFF2-40B4-BE49-F238E27FC236}">
                <a16:creationId xmlns:a16="http://schemas.microsoft.com/office/drawing/2014/main" id="{99736BF7-A9F7-4D7A-966B-CFAEBA4C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57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No pooled custody</a:t>
            </a:r>
          </a:p>
        </p:txBody>
      </p:sp>
      <p:sp>
        <p:nvSpPr>
          <p:cNvPr id="8" name="check-1">
            <a:extLst xmlns:a="http://schemas.openxmlformats.org/drawingml/2006/main">
              <a:ext uri="{FF2B5EF4-FFF2-40B4-BE49-F238E27FC236}">
                <a16:creationId xmlns:a16="http://schemas.microsoft.com/office/drawing/2014/main" id="{E22F2C2E-E229-4B7E-A930-CB2BF9F5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15835E"/>
            </a:solidFill>
            <a:prstDash val="solid"/>
          </a:ln>
        </p:spPr>
      </p:sp>
      <p:sp>
        <p:nvSpPr>
          <p:cNvPr id="9" name="check-mark-1">
            <a:extLst xmlns:a="http://schemas.openxmlformats.org/drawingml/2006/main">
              <a:ext uri="{FF2B5EF4-FFF2-40B4-BE49-F238E27FC236}">
                <a16:creationId xmlns:a16="http://schemas.microsoft.com/office/drawing/2014/main" id="{C78B1367-4EFE-4CBC-8D24-208E3877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288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8787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check-label-1">
            <a:extLst xmlns:a="http://schemas.openxmlformats.org/drawingml/2006/main">
              <a:ext uri="{FF2B5EF4-FFF2-40B4-BE49-F238E27FC236}">
                <a16:creationId xmlns:a16="http://schemas.microsoft.com/office/drawing/2014/main" id="{DD5EBB09-B6B1-4D8B-93CF-5964D244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003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No privileged withdrawal</a:t>
            </a:r>
          </a:p>
        </p:txBody>
      </p:sp>
      <p:sp>
        <p:nvSpPr>
          <p:cNvPr id="11" name="check-2">
            <a:extLst xmlns:a="http://schemas.openxmlformats.org/drawingml/2006/main">
              <a:ext uri="{FF2B5EF4-FFF2-40B4-BE49-F238E27FC236}">
                <a16:creationId xmlns:a16="http://schemas.microsoft.com/office/drawing/2014/main" id="{FF193FA8-07B0-456F-AE6F-4B5A88B0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623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15835E"/>
            </a:solidFill>
            <a:prstDash val="solid"/>
          </a:ln>
        </p:spPr>
      </p:sp>
      <p:sp>
        <p:nvSpPr>
          <p:cNvPr id="12" name="check-mark-2">
            <a:extLst xmlns:a="http://schemas.openxmlformats.org/drawingml/2006/main">
              <a:ext uri="{FF2B5EF4-FFF2-40B4-BE49-F238E27FC236}">
                <a16:creationId xmlns:a16="http://schemas.microsoft.com/office/drawing/2014/main" id="{E07B4A69-31A3-4075-8245-43062844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7182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8787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3" name="check-label-2">
            <a:extLst xmlns:a="http://schemas.openxmlformats.org/drawingml/2006/main">
              <a:ext uri="{FF2B5EF4-FFF2-40B4-BE49-F238E27FC236}">
                <a16:creationId xmlns:a16="http://schemas.microsoft.com/office/drawing/2014/main" id="{B4A2B364-9668-4526-A402-AC43DB7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432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No recipient self-share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00515A11-675C-4ABE-9D57-1DC7A978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052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15835E"/>
            </a:solidFill>
            <a:prstDash val="solid"/>
          </a:ln>
        </p:spPr>
      </p:sp>
      <p:sp>
        <p:nvSpPr>
          <p:cNvPr id="15" name="check-mark-3">
            <a:extLst xmlns:a="http://schemas.openxmlformats.org/drawingml/2006/main">
              <a:ext uri="{FF2B5EF4-FFF2-40B4-BE49-F238E27FC236}">
                <a16:creationId xmlns:a16="http://schemas.microsoft.com/office/drawing/2014/main" id="{4F22057D-B472-4F73-84A4-BCD8D86B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147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8787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check-label-3">
            <a:extLst xmlns:a="http://schemas.openxmlformats.org/drawingml/2006/main">
              <a:ext uri="{FF2B5EF4-FFF2-40B4-BE49-F238E27FC236}">
                <a16:creationId xmlns:a16="http://schemas.microsoft.com/office/drawing/2014/main" id="{05B4E736-2664-4EB4-994D-7DD1F7FF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862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Reentrancy protection</a:t>
            </a:r>
          </a:p>
        </p:txBody>
      </p:sp>
      <p:sp>
        <p:nvSpPr>
          <p:cNvPr id="17" name="check-4">
            <a:extLst xmlns:a="http://schemas.openxmlformats.org/drawingml/2006/main">
              <a:ext uri="{FF2B5EF4-FFF2-40B4-BE49-F238E27FC236}">
                <a16:creationId xmlns:a16="http://schemas.microsoft.com/office/drawing/2014/main" id="{60C1906C-E2B4-4C97-8290-4814B3CE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482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15835E"/>
            </a:solidFill>
            <a:prstDash val="solid"/>
          </a:ln>
        </p:spPr>
      </p:sp>
      <p:sp>
        <p:nvSpPr>
          <p:cNvPr id="18" name="check-mark-4">
            <a:extLst xmlns:a="http://schemas.openxmlformats.org/drawingml/2006/main">
              <a:ext uri="{FF2B5EF4-FFF2-40B4-BE49-F238E27FC236}">
                <a16:creationId xmlns:a16="http://schemas.microsoft.com/office/drawing/2014/main" id="{0DF69A59-ED6D-4139-A41E-25C8D5FA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5772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8787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9" name="check-label-4">
            <a:extLst xmlns:a="http://schemas.openxmlformats.org/drawingml/2006/main">
              <a:ext uri="{FF2B5EF4-FFF2-40B4-BE49-F238E27FC236}">
                <a16:creationId xmlns:a16="http://schemas.microsoft.com/office/drawing/2014/main" id="{946E23DD-8158-436B-8909-945E24E9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291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Exact fixed shares</a:t>
            </a:r>
          </a:p>
        </p:txBody>
      </p:sp>
      <p:sp>
        <p:nvSpPr>
          <p:cNvPr id="20" name="security-foot">
            <a:extLst xmlns:a="http://schemas.openxmlformats.org/drawingml/2006/main">
              <a:ext uri="{FF2B5EF4-FFF2-40B4-BE49-F238E27FC236}">
                <a16:creationId xmlns:a16="http://schemas.microsoft.com/office/drawing/2014/main" id="{F96C8EE1-9E32-4B62-9908-A33FFA68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53050"/>
            <a:ext cx="714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68F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68F2"/>
                </a:solidFill>
                <a:latin typeface="Arial"/>
                <a:ea typeface="Arial"/>
                <a:cs typeface="Arial"/>
              </a:rPr>
              <a:t>Threat model and invariant tests are included in the repository.</a:t>
            </a:r>
          </a:p>
        </p:txBody>
      </p:sp>
    </p:spTree>
    <p:extLst>
      <p:ext uri="{BB962C8B-B14F-4D97-AF65-F5344CB8AC3E}">
        <p14:creationId xmlns:p14="http://schemas.microsoft.com/office/powerpoint/2010/main" val="9890505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D995BFF6-694F-421E-B227-97DC8F9F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66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Attestcoin is a deliberate Ethereum-only proof lane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55487DF4-55FC-4E58-8EE0-4FF74D9E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191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attestcoin-intro">
            <a:extLst xmlns:a="http://schemas.openxmlformats.org/drawingml/2006/main">
              <a:ext uri="{FF2B5EF4-FFF2-40B4-BE49-F238E27FC236}">
                <a16:creationId xmlns:a16="http://schemas.microsoft.com/office/drawing/2014/main" id="{84701C87-DE07-4032-B625-31206498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Chain separation is enforced in code so the demo never overstates what is proven.</a:t>
            </a:r>
          </a:p>
        </p:txBody>
      </p:sp>
      <p:sp>
        <p:nvSpPr>
          <p:cNvPr id="4" name="ethereum-block">
            <a:extLst xmlns:a="http://schemas.openxmlformats.org/drawingml/2006/main">
              <a:ext uri="{FF2B5EF4-FFF2-40B4-BE49-F238E27FC236}">
                <a16:creationId xmlns:a16="http://schemas.microsoft.com/office/drawing/2014/main" id="{DC4D4E5C-CABF-4A07-B5F2-58F46973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52197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DDE1E6"/>
            </a:solidFill>
            <a:prstDash val="solid"/>
          </a:ln>
        </p:spPr>
      </p:sp>
      <p:sp>
        <p:nvSpPr>
          <p:cNvPr id="5" name="base-block">
            <a:extLst xmlns:a="http://schemas.openxmlformats.org/drawingml/2006/main">
              <a:ext uri="{FF2B5EF4-FFF2-40B4-BE49-F238E27FC236}">
                <a16:creationId xmlns:a16="http://schemas.microsoft.com/office/drawing/2014/main" id="{7053A97F-ED1B-4DAC-BB6B-FA06C71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52197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5F7F9"/>
          </a:solidFill>
          <a:ln xmlns:a="http://schemas.openxmlformats.org/drawingml/2006/main" w="9525">
            <a:solidFill>
              <a:srgbClr val="DDE1E6"/>
            </a:solidFill>
            <a:prstDash val="solid"/>
          </a:ln>
        </p:spPr>
      </p:sp>
      <p:sp>
        <p:nvSpPr>
          <p:cNvPr id="6" name="ethereum-head">
            <a:extLst xmlns:a="http://schemas.openxmlformats.org/drawingml/2006/main">
              <a:ext uri="{FF2B5EF4-FFF2-40B4-BE49-F238E27FC236}">
                <a16:creationId xmlns:a16="http://schemas.microsoft.com/office/drawing/2014/main" id="{8EB95A19-31C7-408A-A153-BD9824BE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835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835E"/>
                </a:solidFill>
                <a:latin typeface="Arial"/>
                <a:ea typeface="Arial"/>
                <a:cs typeface="Arial"/>
              </a:rPr>
              <a:t>Ethereum Sepolia</a:t>
            </a:r>
          </a:p>
        </p:txBody>
      </p:sp>
      <p:sp>
        <p:nvSpPr>
          <p:cNvPr id="7" name="ethereum-copy">
            <a:extLst xmlns:a="http://schemas.openxmlformats.org/drawingml/2006/main">
              <a:ext uri="{FF2B5EF4-FFF2-40B4-BE49-F238E27FC236}">
                <a16:creationId xmlns:a16="http://schemas.microsoft.com/office/drawing/2014/main" id="{F9E34E2D-144D-4983-897C-80044F76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4286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Accepted source chain</a:t>
            </a:r>
          </a:p>
          <a:p xmlns:a="http://schemas.openxmlformats.org/drawingml/2006/main">
            <a:pPr algn="l">
              <a:defRPr sz="17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Receipt inspected</a:t>
            </a:r>
          </a:p>
          <a:p xmlns:a="http://schemas.openxmlformats.org/drawingml/2006/main">
            <a:pPr algn="l">
              <a:defRPr sz="17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Proof built</a:t>
            </a:r>
          </a:p>
          <a:p xmlns:a="http://schemas.openxmlformats.org/drawingml/2006/main">
            <a:pPr algn="l">
              <a:defRPr sz="17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BlockProver verification supported</a:t>
            </a:r>
          </a:p>
        </p:txBody>
      </p:sp>
      <p:sp>
        <p:nvSpPr>
          <p:cNvPr id="8" name="base-head">
            <a:extLst xmlns:a="http://schemas.openxmlformats.org/drawingml/2006/main">
              <a:ext uri="{FF2B5EF4-FFF2-40B4-BE49-F238E27FC236}">
                <a16:creationId xmlns:a16="http://schemas.microsoft.com/office/drawing/2014/main" id="{F288B50D-C76C-420D-8D9F-2CB45DBB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289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Base Sepolia</a:t>
            </a:r>
          </a:p>
        </p:txBody>
      </p:sp>
      <p:sp>
        <p:nvSpPr>
          <p:cNvPr id="9" name="base-copy">
            <a:extLst xmlns:a="http://schemas.openxmlformats.org/drawingml/2006/main">
              <a:ext uri="{FF2B5EF4-FFF2-40B4-BE49-F238E27FC236}">
                <a16:creationId xmlns:a16="http://schemas.microsoft.com/office/drawing/2014/main" id="{AD6C9084-070A-447A-B4F4-1FC30E25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52800"/>
            <a:ext cx="428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Settlement supported</a:t>
            </a:r>
          </a:p>
          <a:p xmlns:a="http://schemas.openxmlformats.org/drawingml/2006/main">
            <a:pPr algn="l">
              <a:defRPr sz="17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Builder Code attribution supported</a:t>
            </a:r>
          </a:p>
          <a:p xmlns:a="http://schemas.openxmlformats.org/drawingml/2006/main">
            <a:pPr algn="l">
              <a:defRPr sz="1725" b="0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21417"/>
                </a:solidFill>
                <a:latin typeface="Arial"/>
                <a:ea typeface="Arial"/>
                <a:cs typeface="Arial"/>
              </a:rPr>
              <a:t>Attestcoin proof requests rejected</a:t>
            </a:r>
          </a:p>
        </p:txBody>
      </p:sp>
      <p:sp>
        <p:nvSpPr>
          <p:cNvPr id="10" name="attestcoin-foot">
            <a:extLst xmlns:a="http://schemas.openxmlformats.org/drawingml/2006/main">
              <a:ext uri="{FF2B5EF4-FFF2-40B4-BE49-F238E27FC236}">
                <a16:creationId xmlns:a16="http://schemas.microsoft.com/office/drawing/2014/main" id="{BE5CB5E0-FA3E-439F-A835-E7683ADE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7791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7791F"/>
                </a:solidFill>
                <a:latin typeface="Arial"/>
                <a:ea typeface="Arial"/>
                <a:cs typeface="Arial"/>
              </a:rPr>
              <a:t>Proof evidence is emitted only after source transaction inspection and verification steps complete.</a:t>
            </a:r>
          </a:p>
        </p:txBody>
      </p:sp>
    </p:spTree>
    <p:extLst>
      <p:ext uri="{BB962C8B-B14F-4D97-AF65-F5344CB8AC3E}">
        <p14:creationId xmlns:p14="http://schemas.microsoft.com/office/powerpoint/2010/main" val="13290143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48075C7E-70C7-4E01-B853-3B64F692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68F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68F2"/>
                </a:solidFill>
                <a:latin typeface="Arial"/>
                <a:ea typeface="Arial"/>
                <a:cs typeface="Arial"/>
              </a:rPr>
              <a:t>DELIVERY STATUS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C9C2B86E-2D00-4D3F-9FD4-7B0C9692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23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Built, tested,</a:t>
            </a:r>
          </a:p>
          <a:p xmlns:a="http://schemas.openxmlformats.org/drawingml/2006/main">
            <a:pPr algn="l">
              <a:defRPr sz="5100" b="1">
                <a:solidFill>
                  <a:srgbClr val="121417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21417"/>
                </a:solidFill>
                <a:latin typeface="Arial"/>
                <a:ea typeface="Arial"/>
                <a:cs typeface="Arial"/>
              </a:rPr>
              <a:t>ready for public testnet evidence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CEB00877-99D5-4E06-BE8B-CE7CB5B3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529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13 web tests  |  15 Attestcoin tests  |  30 Foundry tests</a:t>
            </a:r>
          </a:p>
          <a:p xmlns:a="http://schemas.openxmlformats.org/drawingml/2006/main">
            <a:pPr algn="l">
              <a:defRPr sz="1950" b="0">
                <a:solidFill>
                  <a:srgbClr val="58616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16E"/>
                </a:solidFill>
                <a:latin typeface="Arial"/>
                <a:ea typeface="Arial"/>
                <a:cs typeface="Arial"/>
              </a:rPr>
              <a:t>Public repository, live URLs and deployment hashes are added after release.</a:t>
            </a:r>
          </a:p>
        </p:txBody>
      </p:sp>
      <p:sp>
        <p:nvSpPr>
          <p:cNvPr id="4" name="close-accent-blue">
            <a:extLst xmlns:a="http://schemas.openxmlformats.org/drawingml/2006/main">
              <a:ext uri="{FF2B5EF4-FFF2-40B4-BE49-F238E27FC236}">
                <a16:creationId xmlns:a16="http://schemas.microsoft.com/office/drawing/2014/main" id="{691F3750-9550-4310-9CA5-F513630B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388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6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accent-green">
            <a:extLst xmlns:a="http://schemas.openxmlformats.org/drawingml/2006/main">
              <a:ext uri="{FF2B5EF4-FFF2-40B4-BE49-F238E27FC236}">
                <a16:creationId xmlns:a16="http://schemas.microsoft.com/office/drawing/2014/main" id="{73D53BE4-F27C-4820-8394-21C6EEA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6388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3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accent-amber">
            <a:extLst xmlns:a="http://schemas.openxmlformats.org/drawingml/2006/main">
              <a:ext uri="{FF2B5EF4-FFF2-40B4-BE49-F238E27FC236}">
                <a16:creationId xmlns:a16="http://schemas.microsoft.com/office/drawing/2014/main" id="{8A68D072-8743-43EF-9CF5-A644A1B6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388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863867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2026-08-12T03:53:44.8670000Z</dcterms:created>
  <dcterms:modified xsi:type="dcterms:W3CDTF">2026-08-12T03:53:44.8670000Z</dcterms:modified>
</coreProperties>
</file>